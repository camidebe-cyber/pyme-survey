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8074152" cy="114300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64592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C220"/>
                </a:solidFill>
                <a:latin typeface="Calibri"/>
              </a:rPr>
              <a:t>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144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Cuestionario PyME  Walmart Chile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2179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FF"/>
                </a:solidFill>
                <a:latin typeface="Calibri"/>
              </a:rPr>
              <a:t>Resumen de bloques tematicos  |  5 areas clave del ecosistema Walmart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875520" y="347472"/>
            <a:ext cx="2057400" cy="384048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0" y="347472"/>
            <a:ext cx="2057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1E60"/>
                </a:solidFill>
                <a:latin typeface="Calibri"/>
              </a:rPr>
              <a:t>CONFIDENCIAL  USO INTERNO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1" y="1234440"/>
            <a:ext cx="2651760" cy="685800"/>
          </a:xfrm>
          <a:prstGeom prst="rect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1" y="124358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1" y="15819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TOTAL PREGUNTAS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2987" y="1234440"/>
            <a:ext cx="2651760" cy="6858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2987" y="124358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1E60"/>
                </a:solidFill>
                <a:latin typeface="Calibri"/>
              </a:rPr>
              <a:t>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2987" y="15819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1E60"/>
                </a:solidFill>
                <a:latin typeface="Calibri"/>
              </a:rPr>
              <a:t>PUNTAJE MAXIMO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4203" y="1234440"/>
            <a:ext cx="2651760" cy="685800"/>
          </a:xfrm>
          <a:prstGeom prst="rect">
            <a:avLst/>
          </a:prstGeom>
          <a:solidFill>
            <a:srgbClr val="EA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04203" y="124358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A8703"/>
                </a:solidFill>
                <a:latin typeface="Calibri"/>
              </a:rPr>
              <a:t>&gt;= 46%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04203" y="15819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2A8703"/>
                </a:solidFill>
                <a:latin typeface="Calibri"/>
              </a:rPr>
              <a:t>PYME MADURA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75419" y="1234440"/>
            <a:ext cx="2651760" cy="685800"/>
          </a:xfrm>
          <a:prstGeom prst="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75419" y="1243584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3A00"/>
                </a:solidFill>
                <a:latin typeface="Calibri"/>
              </a:rPr>
              <a:t>&lt; 46%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5419" y="15819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B3A00"/>
                </a:solidFill>
                <a:latin typeface="Calibri"/>
              </a:rPr>
              <a:t>PYME INTERMEDIA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084831"/>
            <a:ext cx="3822191" cy="1920240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1168" y="2057400"/>
            <a:ext cx="3822191" cy="19202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1168" y="2057400"/>
            <a:ext cx="64008" cy="1920240"/>
          </a:xfrm>
          <a:prstGeom prst="rect">
            <a:avLst/>
          </a:prstGeom>
          <a:solidFill>
            <a:srgbClr val="005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" y="2167128"/>
            <a:ext cx="35935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53E2"/>
                </a:solidFill>
                <a:latin typeface="Calibri"/>
              </a:rPr>
              <a:t>Bloque 1  Identificacion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" y="2542032"/>
            <a:ext cx="3502151" cy="2286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" y="2606040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Datos de la empresa, categoria de producto, antiguedad como proveedor de Walmart e ingreso al Programa Potencia PyME.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2084831"/>
            <a:ext cx="3822191" cy="1920240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78807" y="2057400"/>
            <a:ext cx="3822191" cy="19202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78807" y="2057400"/>
            <a:ext cx="64008" cy="1920240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34255" y="2167128"/>
            <a:ext cx="35935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7AA"/>
                </a:solidFill>
                <a:latin typeface="Calibri"/>
              </a:rPr>
              <a:t>Bloque 2  Supply Chain &amp; CD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34255" y="2542032"/>
            <a:ext cx="3502151" cy="2286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34255" y="2606040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Fill Rate, In-Stock, requisitos de entrega en el CD, agendamiento de citas, inventario en sala y quiebres de stock.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83879" y="2084831"/>
            <a:ext cx="3822191" cy="1920240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56448" y="2057400"/>
            <a:ext cx="3822191" cy="19202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56448" y="2057400"/>
            <a:ext cx="64008" cy="1920240"/>
          </a:xfrm>
          <a:prstGeom prst="rect">
            <a:avLst/>
          </a:prstGeom>
          <a:solidFill>
            <a:srgbClr val="9952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11896" y="2167128"/>
            <a:ext cx="35935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95213"/>
                </a:solidFill>
                <a:latin typeface="Calibri"/>
              </a:rPr>
              <a:t>Bloque 3  Retail Link &amp; Phronesis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11896" y="2542032"/>
            <a:ext cx="3502151" cy="2286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11896" y="2606040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Acceso y uso de Retail Link, frecuencia de analisis de ventas, uso de Phronesis, presencia por local y alzas de costo.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142232"/>
            <a:ext cx="3822191" cy="1920240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168" y="4114800"/>
            <a:ext cx="3822191" cy="19202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1168" y="4114800"/>
            <a:ext cx="64008" cy="1920240"/>
          </a:xfrm>
          <a:prstGeom prst="rect">
            <a:avLst/>
          </a:prstGeom>
          <a:solidFill>
            <a:srgbClr val="2A8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16" y="4224528"/>
            <a:ext cx="35935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8703"/>
                </a:solidFill>
                <a:latin typeface="Calibri"/>
              </a:rPr>
              <a:t>Bloque 4  Gestion Comercial &amp; Negocio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56616" y="4599432"/>
            <a:ext cx="3502151" cy="2286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6616" y="4663440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Participacion en promociones, diferencia costo neto/limpio, representante de cuenta (KAM) y Programa Marca Propia.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06240" y="4142232"/>
            <a:ext cx="3822191" cy="1920240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78807" y="4114800"/>
            <a:ext cx="3822191" cy="19202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78807" y="4114800"/>
            <a:ext cx="64008" cy="1920240"/>
          </a:xfrm>
          <a:prstGeom prst="rect">
            <a:avLst/>
          </a:prstGeom>
          <a:solidFill>
            <a:srgbClr val="EA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34255" y="4224528"/>
            <a:ext cx="35935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A1100"/>
                </a:solidFill>
                <a:latin typeface="Calibri"/>
              </a:rPr>
              <a:t>Bloque 5  Gestion Operacional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334255" y="4599432"/>
            <a:ext cx="3502151" cy="2286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34255" y="4663440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Contactos ante problemas, comprension de rechazos en CD, Fee de Ultima Milla, Fee de Reposicion y certificaciones GFSI.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83879" y="4142232"/>
            <a:ext cx="3822191" cy="1920240"/>
          </a:xfrm>
          <a:prstGeom prst="rect">
            <a:avLst/>
          </a:prstGeom>
          <a:solidFill>
            <a:srgbClr val="D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56448" y="4114800"/>
            <a:ext cx="3822191" cy="19202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56448" y="4114800"/>
            <a:ext cx="64008" cy="1920240"/>
          </a:xfrm>
          <a:prstGeom prst="rect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11896" y="4224528"/>
            <a:ext cx="359359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1E60"/>
                </a:solidFill>
                <a:latin typeface="Calibri"/>
              </a:rPr>
              <a:t>Escala de Puntaje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11896" y="4599432"/>
            <a:ext cx="3502151" cy="22860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11896" y="4663440"/>
            <a:ext cx="35478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0 pts  No conoce / No lo hace
1 pt     Conoce pero no gestiona
2 pts  Domina y gestiona activamente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01168" y="587959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1E60"/>
                </a:solidFill>
                <a:latin typeface="Calibri"/>
              </a:rPr>
              <a:t>Segmentacion final del proveedor: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1168" y="6108192"/>
            <a:ext cx="5394960" cy="320040"/>
          </a:xfrm>
          <a:prstGeom prst="rect">
            <a:avLst/>
          </a:prstGeom>
          <a:solidFill>
            <a:srgbClr val="FFF9E6"/>
          </a:solidFill>
          <a:ln w="19050">
            <a:solidFill>
              <a:srgbClr val="FFC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87568" y="6108192"/>
            <a:ext cx="6300216" cy="320040"/>
          </a:xfrm>
          <a:prstGeom prst="rect">
            <a:avLst/>
          </a:prstGeom>
          <a:solidFill>
            <a:srgbClr val="EAF6EC"/>
          </a:solidFill>
          <a:ln w="19050">
            <a:solidFill>
              <a:srgbClr val="2A8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01168" y="61081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B3A00"/>
                </a:solidFill>
                <a:latin typeface="Calibri"/>
              </a:rPr>
              <a:t>PyME INTERMEDIA   0 - 45% del puntaje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87568" y="6108192"/>
            <a:ext cx="6300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A8703"/>
                </a:solidFill>
                <a:latin typeface="Calibri"/>
              </a:rPr>
              <a:t>PyME MADURA   46 - 100% del puntaje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01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6583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Walmart Chile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6583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pyme-survey.onrender.com/formulario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144000" y="658368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  <a:latin typeface="Calibri"/>
              </a:rPr>
              <a:t>Programa PyME 2026  | 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
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9144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C220"/>
                </a:solidFill>
                <a:latin typeface="Calibri"/>
              </a:rP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7315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Cuestionario PyME  Walmart Chile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FF"/>
                </a:solidFill>
                <a:latin typeface="Calibri"/>
              </a:rPr>
              <a:t>Resumen de bloques  |  25 preguntas  |  5 areas clave  |  menos de 4 minutos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329184"/>
            <a:ext cx="2121408" cy="347472"/>
          </a:xfrm>
          <a:prstGeom prst="roundRect">
            <a:avLst>
              <a:gd name="adj" fmla="val 50000"/>
            </a:avLst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329184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Calibri"/>
              </a:rPr>
              <a:t>CONFIDENCIAL  |  USO INTERNO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TOTAL PREGUNTAS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2132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2132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1E60"/>
                </a:solidFill>
                <a:latin typeface="Calibri"/>
              </a:rP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132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Calibri"/>
              </a:rPr>
              <a:t>PUNTAJE MAXIMO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5060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8703"/>
                </a:solidFill>
                <a:latin typeface="Calibri"/>
              </a:rPr>
              <a:t>&gt;= 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5060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8703"/>
                </a:solidFill>
                <a:latin typeface="Calibri"/>
              </a:rPr>
              <a:t>PYME MADURA (pts)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7988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7988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3A00"/>
                </a:solidFill>
                <a:latin typeface="Calibri"/>
              </a:rPr>
              <a:t>&lt; 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7988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3A00"/>
                </a:solidFill>
                <a:latin typeface="Calibri"/>
              </a:rPr>
              <a:t>PYME INTERMEDIA (pts)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" y="2066543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0312" y="2066543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0312" y="2295144"/>
            <a:ext cx="3803904" cy="17373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103120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1  |  Identificacion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9544" y="21214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9544" y="2112263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3E2"/>
                </a:solidFill>
                <a:latin typeface="Calibri"/>
              </a:rPr>
              <a:t>Max: 4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" y="2542032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Datos de la empresa, categoria de producto, antiguedad como proveedor e ingreso al Programa Potencia PyME.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2066543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8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60520" y="2066543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2295144"/>
            <a:ext cx="3803904" cy="17373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2103120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2  |  Supply Chain &amp; CD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9752" y="21214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9752" y="2112263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77AA"/>
                </a:solidFill>
                <a:latin typeface="Calibri"/>
              </a:rPr>
              <a:t>Max: 12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2542032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Fill Rate, In-Stock, requisitos de entrega en el CD, agendamiento de citas, inventario en sala y quiebres de stock.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0728" y="2066543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10728" y="2066543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0728" y="2295144"/>
            <a:ext cx="3803904" cy="173736"/>
          </a:xfrm>
          <a:prstGeom prst="rect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103120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3  |  Retail Link &amp; Phronesis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09960" y="21214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09960" y="2112263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95213"/>
                </a:solidFill>
                <a:latin typeface="Calibri"/>
              </a:rPr>
              <a:t>Max: 12 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542032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Acceso a Retail Link, frecuencia de analisis de ventas, uso de Phronesis, presencia por local y alzas de costo.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" y="4133087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10312" y="4133087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0312" y="4361688"/>
            <a:ext cx="3803904" cy="173736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4169663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4  |  Gestion Comercial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9544" y="4187951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9544" y="4178807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A8703"/>
                </a:solidFill>
                <a:latin typeface="Calibri"/>
              </a:rPr>
              <a:t>Max: 10 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4" y="4608575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Promociones, costo neto vs limpio, representante de cuenta (KAM), Marca Propia y canales de contacto.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4133087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160520" y="4133087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60520" y="4361688"/>
            <a:ext cx="3803904" cy="173736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5112" y="4169663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5  |  Gestion Operacional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59752" y="4187951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59752" y="4178807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A1100"/>
                </a:solidFill>
                <a:latin typeface="Calibri"/>
              </a:rPr>
              <a:t>Max: 8 pts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5112" y="4608575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Rechazos en CD, Fee de Ultima Milla, Fee de Reposicion y certificaciones de calidad (GFSI).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10728" y="4133087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110728" y="4133087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10728" y="4361688"/>
            <a:ext cx="3803904" cy="173736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75320" y="4169663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Escala de Puntaje  |  Total: 46 pts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109960" y="4187951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09960" y="4178807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1E60"/>
                </a:solidFill>
                <a:latin typeface="Calibri"/>
              </a:rPr>
              <a:t>Umbral: 40 pts para ser Madura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608575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0 pts  No conoce / No lo hace
1 pt    Conoce pero no gestiona activamente
2 pts  Domina y gestiona con regularidad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" y="58887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E60"/>
                </a:solidFill>
                <a:latin typeface="Calibri"/>
              </a:rPr>
              <a:t>Segmentacion al completar el cuestionario: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0312" y="6099048"/>
            <a:ext cx="4114800" cy="347472"/>
          </a:xfrm>
          <a:prstGeom prst="roundRect">
            <a:avLst>
              <a:gd name="adj" fmla="val 40000"/>
            </a:avLst>
          </a:prstGeom>
          <a:solidFill>
            <a:srgbClr val="FFF9E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416552" y="6099048"/>
            <a:ext cx="7562088" cy="347472"/>
          </a:xfrm>
          <a:prstGeom prst="roundRect">
            <a:avLst>
              <a:gd name="adj" fmla="val 40000"/>
            </a:avLst>
          </a:prstGeom>
          <a:solidFill>
            <a:srgbClr val="EAF6EC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6108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3A00"/>
                </a:solidFill>
                <a:latin typeface="Calibri"/>
              </a:rPr>
              <a:t>PyME INTERMEDIA   0 - 39 pts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6552" y="6108192"/>
            <a:ext cx="7562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8703"/>
                </a:solidFill>
                <a:latin typeface="Calibri"/>
              </a:rPr>
              <a:t>PyME MADURA   40 - 46 pts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574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Walmart Chile  |  Programa PyME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6574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FF"/>
                </a:solidFill>
                <a:latin typeface="Calibri"/>
              </a:rPr>
              <a:t>pyme-survey.onrender.com/formulario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65745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